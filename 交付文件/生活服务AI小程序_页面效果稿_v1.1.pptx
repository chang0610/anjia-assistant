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dc33b69fed34018" /><Relationship Type="http://schemas.openxmlformats.org/officeDocument/2006/relationships/extended-properties" Target="/docProps/app.xml" Id="Re769384df66c4d2a" /><Relationship Type="http://schemas.openxmlformats.org/officeDocument/2006/relationships/officeDocument" Target="/ppt/presentation.xml" Id="R36ba6ad5e9aa4d6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c9c625581504426"/>
  </p:sldMasterIdLst>
  <p:notesMasterIdLst>
    <p:notesMasterId xmlns:r="http://schemas.openxmlformats.org/officeDocument/2006/relationships" r:id="R0277cced4d8d4ea9"/>
  </p:notesMasterIdLst>
  <p:sldIdLst>
    <p:sldId xmlns:r="http://schemas.openxmlformats.org/officeDocument/2006/relationships" id="256" r:id="R6fcdb926d0e3424f"/>
    <p:sldId xmlns:r="http://schemas.openxmlformats.org/officeDocument/2006/relationships" id="257" r:id="Rf0597ee583e14894"/>
    <p:sldId xmlns:r="http://schemas.openxmlformats.org/officeDocument/2006/relationships" id="258" r:id="R21a226b522bd4797"/>
    <p:sldId xmlns:r="http://schemas.openxmlformats.org/officeDocument/2006/relationships" id="259" r:id="R68182f3f660a4782"/>
    <p:sldId xmlns:r="http://schemas.openxmlformats.org/officeDocument/2006/relationships" id="260" r:id="Raa634314ec18403a"/>
    <p:sldId xmlns:r="http://schemas.openxmlformats.org/officeDocument/2006/relationships" id="261" r:id="R2e5487b7b57e4bc0"/>
    <p:sldId xmlns:r="http://schemas.openxmlformats.org/officeDocument/2006/relationships" id="262" r:id="R7008f540501b401f"/>
    <p:sldId xmlns:r="http://schemas.openxmlformats.org/officeDocument/2006/relationships" id="263" r:id="R6eba59773ff2464f"/>
    <p:sldId xmlns:r="http://schemas.openxmlformats.org/officeDocument/2006/relationships" id="264" r:id="R9133e9ceaa6d4b38"/>
    <p:sldId xmlns:r="http://schemas.openxmlformats.org/officeDocument/2006/relationships" id="265" r:id="Rf1ad0e9596e44846"/>
    <p:sldId xmlns:r="http://schemas.openxmlformats.org/officeDocument/2006/relationships" id="266" r:id="R5b42920de3c549f2"/>
    <p:sldId xmlns:r="http://schemas.openxmlformats.org/officeDocument/2006/relationships" id="267" r:id="R320f63e2ced94e1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628f3ab55e74268" /><Relationship Type="http://schemas.openxmlformats.org/officeDocument/2006/relationships/slideMaster" Target="/ppt/slideMasters/slideMaster1.xml" Id="R3c9c625581504426" /><Relationship Type="http://schemas.openxmlformats.org/officeDocument/2006/relationships/notesMaster" Target="/ppt/notesMasters/notesMaster1.xml" Id="R0277cced4d8d4ea9" /><Relationship Type="http://schemas.openxmlformats.org/officeDocument/2006/relationships/presProps" Target="/ppt/presProps.xml" Id="R9d6e1ef4f05e44fc" /><Relationship Type="http://schemas.openxmlformats.org/officeDocument/2006/relationships/tableStyles" Target="/ppt/tableStyles.xml" Id="R0908a91084db45f6" /><Relationship Type="http://schemas.openxmlformats.org/officeDocument/2006/relationships/slide" Target="/ppt/slides/slide1.xml" Id="R6fcdb926d0e3424f" /><Relationship Type="http://schemas.openxmlformats.org/officeDocument/2006/relationships/slide" Target="/ppt/slides/slide2.xml" Id="Rf0597ee583e14894" /><Relationship Type="http://schemas.openxmlformats.org/officeDocument/2006/relationships/slide" Target="/ppt/slides/slide3.xml" Id="R21a226b522bd4797" /><Relationship Type="http://schemas.openxmlformats.org/officeDocument/2006/relationships/slide" Target="/ppt/slides/slide4.xml" Id="R68182f3f660a4782" /><Relationship Type="http://schemas.openxmlformats.org/officeDocument/2006/relationships/slide" Target="/ppt/slides/slide5.xml" Id="Raa634314ec18403a" /><Relationship Type="http://schemas.openxmlformats.org/officeDocument/2006/relationships/slide" Target="/ppt/slides/slide6.xml" Id="R2e5487b7b57e4bc0" /><Relationship Type="http://schemas.openxmlformats.org/officeDocument/2006/relationships/slide" Target="/ppt/slides/slide7.xml" Id="R7008f540501b401f" /><Relationship Type="http://schemas.openxmlformats.org/officeDocument/2006/relationships/slide" Target="/ppt/slides/slide8.xml" Id="R6eba59773ff2464f" /><Relationship Type="http://schemas.openxmlformats.org/officeDocument/2006/relationships/slide" Target="/ppt/slides/slide9.xml" Id="R9133e9ceaa6d4b38" /><Relationship Type="http://schemas.openxmlformats.org/officeDocument/2006/relationships/slide" Target="/ppt/slides/slide10.xml" Id="Rf1ad0e9596e44846" /><Relationship Type="http://schemas.openxmlformats.org/officeDocument/2006/relationships/slide" Target="/ppt/slides/slide11.xml" Id="R5b42920de3c549f2" /><Relationship Type="http://schemas.openxmlformats.org/officeDocument/2006/relationships/slide" Target="/ppt/slides/slide12.xml" Id="R320f63e2ced94e1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ff4035fe37c4b9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700d92246d6474d" /><Relationship Type="http://schemas.openxmlformats.org/officeDocument/2006/relationships/notesMaster" Target="/ppt/notesMasters/notesMaster1.xml" Id="Ra87bc720bed7405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67c89301eb34685" /><Relationship Type="http://schemas.openxmlformats.org/officeDocument/2006/relationships/notesMaster" Target="/ppt/notesMasters/notesMaster1.xml" Id="R38c1081aac1c483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3640aefb8bd4f70" /><Relationship Type="http://schemas.openxmlformats.org/officeDocument/2006/relationships/notesMaster" Target="/ppt/notesMasters/notesMaster1.xml" Id="R077f00147a0b454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941c528984b4338" /><Relationship Type="http://schemas.openxmlformats.org/officeDocument/2006/relationships/notesMaster" Target="/ppt/notesMasters/notesMaster1.xml" Id="Rb0de1cd04b184eb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0da982b405c4205" /><Relationship Type="http://schemas.openxmlformats.org/officeDocument/2006/relationships/notesMaster" Target="/ppt/notesMasters/notesMaster1.xml" Id="R69e1237d3c5540a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ea6ff3be9944e29" /><Relationship Type="http://schemas.openxmlformats.org/officeDocument/2006/relationships/notesMaster" Target="/ppt/notesMasters/notesMaster1.xml" Id="R104425aa5bf54cc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d9f684920014f89" /><Relationship Type="http://schemas.openxmlformats.org/officeDocument/2006/relationships/notesMaster" Target="/ppt/notesMasters/notesMaster1.xml" Id="Ra242ee114fdf412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4439f290c224ea4" /><Relationship Type="http://schemas.openxmlformats.org/officeDocument/2006/relationships/notesMaster" Target="/ppt/notesMasters/notesMaster1.xml" Id="R78ce5694cbd6413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054e7f6615e4158" /><Relationship Type="http://schemas.openxmlformats.org/officeDocument/2006/relationships/notesMaster" Target="/ppt/notesMasters/notesMaster1.xml" Id="R9f136659bf73449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e2ce21fc71a42f5" /><Relationship Type="http://schemas.openxmlformats.org/officeDocument/2006/relationships/notesMaster" Target="/ppt/notesMasters/notesMaster1.xml" Id="R258b55d112ea458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e13f4a93574400e" /><Relationship Type="http://schemas.openxmlformats.org/officeDocument/2006/relationships/notesMaster" Target="/ppt/notesMasters/notesMaster1.xml" Id="R35fb27c724854e8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5d3694d7f404657" /><Relationship Type="http://schemas.openxmlformats.org/officeDocument/2006/relationships/notesMaster" Target="/ppt/notesMasters/notesMaster1.xml" Id="Rd711e435b8d2417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页面内容依据《生活服务 AI 小程序产品需求文档》v0.2。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本页展示首次使用的主路径。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页面依据 PRD v0.2：F01 信息采集入口。界面中的区域、价格和日期为演示数据。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页面依据 PRD v0.2：F01 信息采集与画像确认。界面中的区域、价格和日期为演示数据。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页面依据 PRD v0.2：F02 任务生成与 F03 进度。界面中的区域、价格和日期为演示数据。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页面依据 PRD v0.2：F02 任务卡片与依赖。界面中的区域、价格和日期为演示数据。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页面依据 PRD v0.2：F04 租房准备与区域参考。界面中的区域、价格和日期为演示数据。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页面依据 PRD v0.2：F04 水电网费预估。界面中的区域、价格和日期为演示数据。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页面依据 PRD v0.2：F06 日程展示。界面中的区域、价格和日期为演示数据。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页面依据 PRD v0.2：F06 提醒设置与状态。界面中的区域、价格和日期为演示数据。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页面依据 PRD v0.2：F07 动态调整与计划版本。界面中的区域、价格和日期为演示数据。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页面依据 PRD v0.2：F08 对话、解释与反馈。界面中的区域、价格和日期为演示数据。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34138c99dd450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9c281de6130455c" /><Relationship Type="http://schemas.openxmlformats.org/officeDocument/2006/relationships/slideLayout" Target="/ppt/slideLayouts/slideLayout1.xml" Id="R968f709781cb473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68f709781cb473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eec6a460624ec5" /><Relationship Type="http://schemas.openxmlformats.org/officeDocument/2006/relationships/image" Target="/ppt/media/image.png" Id="Ra8bad0f8692445c1" /><Relationship Type="http://schemas.openxmlformats.org/officeDocument/2006/relationships/image" Target="/ppt/media/image2.png" Id="R5f7b5144133348a1" /><Relationship Type="http://schemas.openxmlformats.org/officeDocument/2006/relationships/notesSlide" Target="/ppt/notesSlides/notesSlide1.xml" Id="R47cc49cf0a97472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0b6d3c3fb947d5" /><Relationship Type="http://schemas.openxmlformats.org/officeDocument/2006/relationships/image" Target="/ppt/media/image3.png" Id="R75c625fbf50a4eba" /><Relationship Type="http://schemas.openxmlformats.org/officeDocument/2006/relationships/image" Target="/ppt/media/image4.png" Id="Re027fdd3d66042bc" /><Relationship Type="http://schemas.openxmlformats.org/officeDocument/2006/relationships/image" Target="/ppt/media/image5.png" Id="R488461df243d4563" /><Relationship Type="http://schemas.openxmlformats.org/officeDocument/2006/relationships/notesSlide" Target="/ppt/notesSlides/notesSlide2.xml" Id="R9ec7f630e75247d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1e7e30b08b4a1b" /><Relationship Type="http://schemas.openxmlformats.org/officeDocument/2006/relationships/image" Target="/ppt/media/image6.png" Id="Rba606491ed5e4d22" /><Relationship Type="http://schemas.openxmlformats.org/officeDocument/2006/relationships/notesSlide" Target="/ppt/notesSlides/notesSlide3.xml" Id="R55960b685452449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05ba9b8e5740b4" /><Relationship Type="http://schemas.openxmlformats.org/officeDocument/2006/relationships/notesSlide" Target="/ppt/notesSlides/notesSlide4.xml" Id="R96822b85ad47486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440c573d754320" /><Relationship Type="http://schemas.openxmlformats.org/officeDocument/2006/relationships/image" Target="/ppt/media/image7.png" Id="R450ff50006344695" /><Relationship Type="http://schemas.openxmlformats.org/officeDocument/2006/relationships/notesSlide" Target="/ppt/notesSlides/notesSlide5.xml" Id="Rc257ad2ca82344a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47da008abe405d" /><Relationship Type="http://schemas.openxmlformats.org/officeDocument/2006/relationships/image" Target="/ppt/media/image8.png" Id="Rf0ab6eca00924d58" /><Relationship Type="http://schemas.openxmlformats.org/officeDocument/2006/relationships/notesSlide" Target="/ppt/notesSlides/notesSlide6.xml" Id="R7d454f0c950549a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5b908a0797438a" /><Relationship Type="http://schemas.openxmlformats.org/officeDocument/2006/relationships/image" Target="/ppt/media/image9.png" Id="R475532eb2624425f" /><Relationship Type="http://schemas.openxmlformats.org/officeDocument/2006/relationships/notesSlide" Target="/ppt/notesSlides/notesSlide7.xml" Id="R67576d1c34444b8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335f0a72f448a8" /><Relationship Type="http://schemas.openxmlformats.org/officeDocument/2006/relationships/image" Target="/ppt/media/image10.png" Id="R8c82b641f0c94a63" /><Relationship Type="http://schemas.openxmlformats.org/officeDocument/2006/relationships/notesSlide" Target="/ppt/notesSlides/notesSlide8.xml" Id="Ra682b268dafa481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21ecdc10bf473b" /><Relationship Type="http://schemas.openxmlformats.org/officeDocument/2006/relationships/image" Target="/ppt/media/image11.png" Id="R2f507dcb990344aa" /><Relationship Type="http://schemas.openxmlformats.org/officeDocument/2006/relationships/notesSlide" Target="/ppt/notesSlides/notesSlide9.xml" Id="R89a3ea1562b5403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9a3b66913a430c" /><Relationship Type="http://schemas.openxmlformats.org/officeDocument/2006/relationships/image" Target="/ppt/media/image12.png" Id="R6bc36d262ed94f9f" /><Relationship Type="http://schemas.openxmlformats.org/officeDocument/2006/relationships/notesSlide" Target="/ppt/notesSlides/notesSlide10.xml" Id="Rb83f71103757482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c130acda944aaa" /><Relationship Type="http://schemas.openxmlformats.org/officeDocument/2006/relationships/image" Target="/ppt/media/image13.png" Id="Rb10418047a704145" /><Relationship Type="http://schemas.openxmlformats.org/officeDocument/2006/relationships/notesSlide" Target="/ppt/notesSlides/notesSlide11.xml" Id="Rc5b398d7adaf41f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711305982349b0" /><Relationship Type="http://schemas.openxmlformats.org/officeDocument/2006/relationships/image" Target="/ppt/media/image14.png" Id="R7e1888d16c32453c" /><Relationship Type="http://schemas.openxmlformats.org/officeDocument/2006/relationships/notesSlide" Target="/ppt/notesSlides/notesSlide12.xml" Id="R44fe9284b1424bf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A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0A6C27-02AE-4414-92CE-47EB977CD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76300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032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生活服务 AI 小程序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6BDFD9-335B-4F11-ABCB-E4EBD5E53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76375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6B4B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76B4B"/>
                </a:solidFill>
                <a:latin typeface="PingFang SC"/>
                <a:ea typeface="PingFang SC"/>
                <a:cs typeface="PingFang SC"/>
              </a:rPr>
              <a:t>核心页面效果稿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ADC8F4-BFFA-4607-BEA4-A86E9436A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47900"/>
            <a:ext cx="4857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6736C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6736C"/>
                </a:solidFill>
                <a:latin typeface="PingFang SC"/>
                <a:ea typeface="PingFang SC"/>
                <a:cs typeface="PingFang SC"/>
              </a:rPr>
              <a:t>围绕“今天先做什么”，组织租房准备、搬家、公共服务和生活配置。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15B892-7E3C-4985-9E58-61D327B3A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4357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6B4B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6B4B"/>
                </a:solidFill>
                <a:latin typeface="PingFang SC"/>
                <a:ea typeface="PingFang SC"/>
                <a:cs typeface="PingFang SC"/>
              </a:rPr>
              <a:t>产品名（暂定）　安家序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bad0f8692445c1"/>
          <a:stretch xmlns:a="http://schemas.openxmlformats.org/drawingml/2006/main"/>
        </p:blipFill>
        <p:spPr>
          <a:xfrm xmlns:a="http://schemas.openxmlformats.org/drawingml/2006/main">
            <a:off x="7351607" y="333375"/>
            <a:ext cx="2860886" cy="6191250"/>
          </a:xfrm>
          <a:prstGeom xmlns:a="http://schemas.openxmlformats.org/drawingml/2006/main" prst="roundRect">
            <a:avLst>
              <a:gd name="adj" fmla="val 4878"/>
            </a:avLst>
          </a:prstGeom>
        </p:spPr>
      </p:pic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7b5144133348a1"/>
          <a:stretch xmlns:a="http://schemas.openxmlformats.org/drawingml/2006/main"/>
        </p:blipFill>
        <p:spPr>
          <a:xfrm xmlns:a="http://schemas.openxmlformats.org/drawingml/2006/main">
            <a:off x="9641726" y="1095375"/>
            <a:ext cx="2090647" cy="4524375"/>
          </a:xfrm>
          <a:prstGeom xmlns:a="http://schemas.openxmlformats.org/drawingml/2006/main" prst="roundRect">
            <a:avLst>
              <a:gd name="adj" fmla="val 7273"/>
            </a:avLst>
          </a:prstGeom>
        </p:spPr>
      </p:pic>
    </p:spTree>
    <p:extLst>
      <p:ext uri="{BB962C8B-B14F-4D97-AF65-F5344CB8AC3E}">
        <p14:creationId xmlns:p14="http://schemas.microsoft.com/office/powerpoint/2010/main" val="163858722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8D67F6E-7CDD-4B0C-AA82-1F43B515A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62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6B4B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76B4B"/>
                </a:solidFill>
                <a:latin typeface="PingFang SC"/>
                <a:ea typeface="PingFang SC"/>
                <a:cs typeface="PingFang SC"/>
              </a:rPr>
              <a:t>体验总览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4B8A4B-4CA7-43D5-9289-3FC153120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81050"/>
            <a:ext cx="781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核心使用路径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BF73EC-80CE-4B4E-AFD0-6927457E4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09700"/>
            <a:ext cx="981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6736C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66736C"/>
                </a:solidFill>
                <a:latin typeface="PingFang SC"/>
                <a:ea typeface="PingFang SC"/>
                <a:cs typeface="PingFang SC"/>
              </a:rPr>
              <a:t>首次进入后，用户完成必要信息确认，系统生成计划，并在日期或进度变化时同步更新。</a:t>
            </a:r>
          </a:p>
        </p:txBody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c625fbf50a4eba"/>
          <a:stretch xmlns:a="http://schemas.openxmlformats.org/drawingml/2006/main"/>
        </p:blipFill>
        <p:spPr>
          <a:xfrm xmlns:a="http://schemas.openxmlformats.org/drawingml/2006/main">
            <a:off x="814354" y="2047875"/>
            <a:ext cx="1914593" cy="4143375"/>
          </a:xfrm>
          <a:prstGeom xmlns:a="http://schemas.openxmlformats.org/drawingml/2006/main" prst="roundRect">
            <a:avLst>
              <a:gd name="adj" fmla="val 7143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70B572-0341-458C-B93B-C57A6BDF2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10300"/>
            <a:ext cx="213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1 了解产品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42E980-4FB7-45D2-8284-759B9B5F9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047875"/>
            <a:ext cx="2065313" cy="4143375"/>
          </a:xfrm>
          <a:prstGeom xmlns:a="http://schemas.openxmlformats.org/drawingml/2006/main" prst="roundRect">
            <a:avLst>
              <a:gd name="adj" fmla="val 3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CE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E846B1-3C91-493F-8F0E-DC12A044C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047875"/>
            <a:ext cx="2065313" cy="3952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8F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E99037-EDCC-4577-B1C0-2BD6A20F7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8141" y="2098870"/>
            <a:ext cx="350593" cy="1147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25396"/>
          </a:bodyPr>
          <a:lstStyle xmlns:a="http://schemas.openxmlformats.org/drawingml/2006/main"/>
          <a:p xmlns:a="http://schemas.openxmlformats.org/drawingml/2006/main">
            <a:pPr>
              <a:defRPr sz="602" b="1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602" b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9:41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DE2481-CD21-4D0A-9AE5-234C858AC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007" y="2098870"/>
            <a:ext cx="433461" cy="1147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27697"/>
          </a:bodyPr>
          <a:lstStyle xmlns:a="http://schemas.openxmlformats.org/drawingml/2006/main"/>
          <a:p xmlns:a="http://schemas.openxmlformats.org/drawingml/2006/main">
            <a:pPr>
              <a:defRPr sz="552" b="1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552" b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◒  100%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F70F6B-A7D0-48CC-A1CB-67307B229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5392" y="2264605"/>
            <a:ext cx="165735" cy="1529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1054" b="1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054" b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2A7E5A-0C55-440E-BCD6-92DE33A9C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4990" y="2270980"/>
            <a:ext cx="1491615" cy="1593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9355"/>
          </a:bodyPr>
          <a:lstStyle xmlns:a="http://schemas.openxmlformats.org/drawingml/2006/main"/>
          <a:p xmlns:a="http://schemas.openxmlformats.org/drawingml/2006/main">
            <a:pPr>
              <a:defRPr sz="903" b="1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3" b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先了解你的搬家计划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0122D8-060F-4A65-8E0A-A079065A0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890" y="2538706"/>
            <a:ext cx="1593606" cy="127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36223"/>
          </a:bodyPr>
          <a:lstStyle xmlns:a="http://schemas.openxmlformats.org/drawingml/2006/main"/>
          <a:p xmlns:a="http://schemas.openxmlformats.org/drawingml/2006/main">
            <a:pPr>
              <a:defRPr sz="653" b="1">
                <a:solidFill>
                  <a:srgbClr val="176B4B"/>
                </a:solidFill>
                <a:latin typeface="PingFang SC"/>
                <a:ea typeface="PingFang SC"/>
                <a:cs typeface="PingFang SC"/>
              </a:defRPr>
            </a:pPr>
            <a:r>
              <a:rPr sz="653" b="1">
                <a:solidFill>
                  <a:srgbClr val="176B4B"/>
                </a:solidFill>
                <a:latin typeface="PingFang SC"/>
                <a:ea typeface="PingFang SC"/>
                <a:cs typeface="PingFang SC"/>
              </a:rPr>
              <a:t>首次建档 · 六项基线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9102AD-CD68-4E34-B15B-E0ED37660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890" y="2710815"/>
            <a:ext cx="1848583" cy="184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4253"/>
          </a:bodyPr>
          <a:lstStyle xmlns:a="http://schemas.openxmlformats.org/drawingml/2006/main"/>
          <a:p xmlns:a="http://schemas.openxmlformats.org/drawingml/2006/main">
            <a:pPr>
              <a:defRPr sz="954" b="1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54" b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先确认这些，计划才排得准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2E547C-E304-40B0-A566-0C57BC492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890" y="2914797"/>
            <a:ext cx="1784838" cy="13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6240"/>
          </a:bodyPr>
          <a:lstStyle xmlns:a="http://schemas.openxmlformats.org/drawingml/2006/main"/>
          <a:p xmlns:a="http://schemas.openxmlformats.org/drawingml/2006/main">
            <a:pPr>
              <a:defRPr sz="602" b="0">
                <a:solidFill>
                  <a:srgbClr val="66736C"/>
                </a:solidFill>
                <a:latin typeface="PingFang SC"/>
                <a:ea typeface="PingFang SC"/>
                <a:cs typeface="PingFang SC"/>
              </a:defRPr>
            </a:pPr>
            <a:r>
              <a:rPr sz="602" b="0">
                <a:solidFill>
                  <a:srgbClr val="66736C"/>
                </a:solidFill>
                <a:latin typeface="PingFang SC"/>
                <a:ea typeface="PingFang SC"/>
                <a:cs typeface="PingFang SC"/>
              </a:rPr>
              <a:t>暂时不确定的选项可以稍后补充。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B8FFDD-E51F-471F-B671-4F8EB208F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8141" y="3125153"/>
            <a:ext cx="1861332" cy="363342"/>
          </a:xfrm>
          <a:prstGeom xmlns:a="http://schemas.openxmlformats.org/drawingml/2006/main" prst="roundRect">
            <a:avLst>
              <a:gd name="adj" fmla="val 209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D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BD27D5-E3BA-4F5D-A6FD-71E16ECAA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1008" y="3163399"/>
            <a:ext cx="1689222" cy="1211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27697"/>
          </a:bodyPr>
          <a:lstStyle xmlns:a="http://schemas.openxmlformats.org/drawingml/2006/main"/>
          <a:p xmlns:a="http://schemas.openxmlformats.org/drawingml/2006/main">
            <a:pPr>
              <a:defRPr sz="703" b="1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03" b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1  新搬入城市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5B4EC1-1C8C-4BB4-BD4B-BA26251EC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1008" y="3316385"/>
            <a:ext cx="1689222" cy="1147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23413"/>
          </a:bodyPr>
          <a:lstStyle xmlns:a="http://schemas.openxmlformats.org/drawingml/2006/main"/>
          <a:p xmlns:a="http://schemas.openxmlformats.org/drawingml/2006/main">
            <a:pPr>
              <a:defRPr sz="653" b="0">
                <a:solidFill>
                  <a:srgbClr val="66736C"/>
                </a:solidFill>
                <a:latin typeface="PingFang SC"/>
                <a:ea typeface="PingFang SC"/>
                <a:cs typeface="PingFang SC"/>
              </a:defRPr>
            </a:pPr>
            <a:r>
              <a:rPr sz="653" b="0">
                <a:solidFill>
                  <a:srgbClr val="66736C"/>
                </a:solidFill>
                <a:latin typeface="PingFang SC"/>
                <a:ea typeface="PingFang SC"/>
                <a:cs typeface="PingFang SC"/>
              </a:rPr>
              <a:t>上海市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A57737-C237-4D7D-9614-2141C8024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8141" y="3533116"/>
            <a:ext cx="1861332" cy="363342"/>
          </a:xfrm>
          <a:prstGeom xmlns:a="http://schemas.openxmlformats.org/drawingml/2006/main" prst="roundRect">
            <a:avLst>
              <a:gd name="adj" fmla="val 209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D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271B99-28DC-4FA7-BE79-403B44D4C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1008" y="3571362"/>
            <a:ext cx="1689222" cy="1211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27697"/>
          </a:bodyPr>
          <a:lstStyle xmlns:a="http://schemas.openxmlformats.org/drawingml/2006/main"/>
          <a:p xmlns:a="http://schemas.openxmlformats.org/drawingml/2006/main">
            <a:pPr>
              <a:defRPr sz="703" b="1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03" b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2  希望单程通勤多久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77F6FE-E078-4615-B69D-EFFF5CB10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1008" y="3724348"/>
            <a:ext cx="1689222" cy="1147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23413"/>
          </a:bodyPr>
          <a:lstStyle xmlns:a="http://schemas.openxmlformats.org/drawingml/2006/main"/>
          <a:p xmlns:a="http://schemas.openxmlformats.org/drawingml/2006/main">
            <a:pPr>
              <a:defRPr sz="653" b="0">
                <a:solidFill>
                  <a:srgbClr val="66736C"/>
                </a:solidFill>
                <a:latin typeface="PingFang SC"/>
                <a:ea typeface="PingFang SC"/>
                <a:cs typeface="PingFang SC"/>
              </a:defRPr>
            </a:pPr>
            <a:r>
              <a:rPr sz="653" b="0">
                <a:solidFill>
                  <a:srgbClr val="66736C"/>
                </a:solidFill>
                <a:latin typeface="PingFang SC"/>
                <a:ea typeface="PingFang SC"/>
                <a:cs typeface="PingFang SC"/>
              </a:rPr>
              <a:t>45 分钟以内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7BDB6A-2EAD-4840-821B-293D6276E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8141" y="3941079"/>
            <a:ext cx="1861332" cy="363342"/>
          </a:xfrm>
          <a:prstGeom xmlns:a="http://schemas.openxmlformats.org/drawingml/2006/main" prst="roundRect">
            <a:avLst>
              <a:gd name="adj" fmla="val 209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DF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4D6384-C0FE-4817-8825-71E2DC891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1008" y="3979325"/>
            <a:ext cx="1689222" cy="1211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27697"/>
          </a:bodyPr>
          <a:lstStyle xmlns:a="http://schemas.openxmlformats.org/drawingml/2006/main"/>
          <a:p xmlns:a="http://schemas.openxmlformats.org/drawingml/2006/main">
            <a:pPr>
              <a:defRPr sz="703" b="1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03" b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3  入职时间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770732-D0BE-40F0-AD28-4FF2B3428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1008" y="4132311"/>
            <a:ext cx="1689222" cy="1147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23413"/>
          </a:bodyPr>
          <a:lstStyle xmlns:a="http://schemas.openxmlformats.org/drawingml/2006/main"/>
          <a:p xmlns:a="http://schemas.openxmlformats.org/drawingml/2006/main">
            <a:pPr>
              <a:defRPr sz="653" b="0">
                <a:solidFill>
                  <a:srgbClr val="66736C"/>
                </a:solidFill>
                <a:latin typeface="PingFang SC"/>
                <a:ea typeface="PingFang SC"/>
                <a:cs typeface="PingFang SC"/>
              </a:defRPr>
            </a:pPr>
            <a:r>
              <a:rPr sz="653" b="0">
                <a:solidFill>
                  <a:srgbClr val="66736C"/>
                </a:solidFill>
                <a:latin typeface="PingFang SC"/>
                <a:ea typeface="PingFang SC"/>
                <a:cs typeface="PingFang SC"/>
              </a:rPr>
              <a:t>2026 年 10 月 19 日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53A914-D877-4B73-8C15-6BFA6989E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8141" y="4349042"/>
            <a:ext cx="1861332" cy="363342"/>
          </a:xfrm>
          <a:prstGeom xmlns:a="http://schemas.openxmlformats.org/drawingml/2006/main" prst="roundRect">
            <a:avLst>
              <a:gd name="adj" fmla="val 209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DF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4879E82-6999-4E9C-85BF-2449AB5B2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1008" y="4387288"/>
            <a:ext cx="1689222" cy="1211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27697"/>
          </a:bodyPr>
          <a:lstStyle xmlns:a="http://schemas.openxmlformats.org/drawingml/2006/main"/>
          <a:p xmlns:a="http://schemas.openxmlformats.org/drawingml/2006/main">
            <a:pPr>
              <a:defRPr sz="703" b="1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03" b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4  多久完成搬家全流程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6031F3-E35E-43E4-BFE3-9A9DF9145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1008" y="4540274"/>
            <a:ext cx="1689222" cy="1147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23413"/>
          </a:bodyPr>
          <a:lstStyle xmlns:a="http://schemas.openxmlformats.org/drawingml/2006/main"/>
          <a:p xmlns:a="http://schemas.openxmlformats.org/drawingml/2006/main">
            <a:pPr>
              <a:defRPr sz="653" b="0">
                <a:solidFill>
                  <a:srgbClr val="66736C"/>
                </a:solidFill>
                <a:latin typeface="PingFang SC"/>
                <a:ea typeface="PingFang SC"/>
                <a:cs typeface="PingFang SC"/>
              </a:defRPr>
            </a:pPr>
            <a:r>
              <a:rPr sz="653" b="0">
                <a:solidFill>
                  <a:srgbClr val="66736C"/>
                </a:solidFill>
                <a:latin typeface="PingFang SC"/>
                <a:ea typeface="PingFang SC"/>
                <a:cs typeface="PingFang SC"/>
              </a:rPr>
              <a:t>从今天起 4 周内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4119B70-F9DF-4CA3-B94F-BB0F53597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8141" y="4757005"/>
            <a:ext cx="1861332" cy="363342"/>
          </a:xfrm>
          <a:prstGeom xmlns:a="http://schemas.openxmlformats.org/drawingml/2006/main" prst="roundRect">
            <a:avLst>
              <a:gd name="adj" fmla="val 209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DF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CD3C896-C320-4C9E-889D-A435FA0BB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1008" y="4795251"/>
            <a:ext cx="1689222" cy="1211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27697"/>
          </a:bodyPr>
          <a:lstStyle xmlns:a="http://schemas.openxmlformats.org/drawingml/2006/main"/>
          <a:p xmlns:a="http://schemas.openxmlformats.org/drawingml/2006/main">
            <a:pPr>
              <a:defRPr sz="703" b="1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03" b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5  一次性搬家预算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708BE9F-343D-4705-A940-693AE71BA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1008" y="4948238"/>
            <a:ext cx="1689222" cy="1147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23413"/>
          </a:bodyPr>
          <a:lstStyle xmlns:a="http://schemas.openxmlformats.org/drawingml/2006/main"/>
          <a:p xmlns:a="http://schemas.openxmlformats.org/drawingml/2006/main">
            <a:pPr>
              <a:defRPr sz="653" b="0">
                <a:solidFill>
                  <a:srgbClr val="66736C"/>
                </a:solidFill>
                <a:latin typeface="PingFang SC"/>
                <a:ea typeface="PingFang SC"/>
                <a:cs typeface="PingFang SC"/>
              </a:defRPr>
            </a:pPr>
            <a:r>
              <a:rPr sz="653" b="0">
                <a:solidFill>
                  <a:srgbClr val="66736C"/>
                </a:solidFill>
                <a:latin typeface="PingFang SC"/>
                <a:ea typeface="PingFang SC"/>
                <a:cs typeface="PingFang SC"/>
              </a:rPr>
              <a:t>¥ 2,000  含搬运与安顿支出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B4ACE16-4B8E-4EA6-9811-E7002BF8A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8141" y="5164968"/>
            <a:ext cx="1861332" cy="363342"/>
          </a:xfrm>
          <a:prstGeom xmlns:a="http://schemas.openxmlformats.org/drawingml/2006/main" prst="roundRect">
            <a:avLst>
              <a:gd name="adj" fmla="val 209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DF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8923E15-C548-4EAC-8C76-44DC2CECF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1008" y="5203214"/>
            <a:ext cx="1689222" cy="1211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27697"/>
          </a:bodyPr>
          <a:lstStyle xmlns:a="http://schemas.openxmlformats.org/drawingml/2006/main"/>
          <a:p xmlns:a="http://schemas.openxmlformats.org/drawingml/2006/main">
            <a:pPr>
              <a:defRPr sz="703" b="1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703" b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6  是否接受合租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A504227-1320-4EEF-8488-A8886450F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1008" y="5356201"/>
            <a:ext cx="1689222" cy="1147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23413"/>
          </a:bodyPr>
          <a:lstStyle xmlns:a="http://schemas.openxmlformats.org/drawingml/2006/main"/>
          <a:p xmlns:a="http://schemas.openxmlformats.org/drawingml/2006/main">
            <a:pPr>
              <a:defRPr sz="653" b="1">
                <a:solidFill>
                  <a:srgbClr val="176B4B"/>
                </a:solidFill>
                <a:latin typeface="PingFang SC"/>
                <a:ea typeface="PingFang SC"/>
                <a:cs typeface="PingFang SC"/>
              </a:defRPr>
            </a:pPr>
            <a:r>
              <a:rPr sz="653" b="1">
                <a:solidFill>
                  <a:srgbClr val="176B4B"/>
                </a:solidFill>
                <a:latin typeface="PingFang SC"/>
                <a:ea typeface="PingFang SC"/>
                <a:cs typeface="PingFang SC"/>
              </a:rPr>
              <a:t>接受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BA4573F-EE2D-4798-8081-60D4BE7BD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8141" y="5655798"/>
            <a:ext cx="1861332" cy="305972"/>
          </a:xfrm>
          <a:prstGeom xmlns:a="http://schemas.openxmlformats.org/drawingml/2006/main" prst="roundRect">
            <a:avLst>
              <a:gd name="adj" fmla="val 24904"/>
            </a:avLst>
          </a:prstGeom>
          <a:solidFill xmlns:a="http://schemas.openxmlformats.org/drawingml/2006/main">
            <a:srgbClr val="176B4B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F28283A-903D-4E3E-80DF-9A65A3FE1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0132" y="5725917"/>
            <a:ext cx="1657350" cy="1529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0292"/>
          </a:bodyPr>
          <a:lstStyle xmlns:a="http://schemas.openxmlformats.org/drawingml/2006/main"/>
          <a:p xmlns:a="http://schemas.openxmlformats.org/drawingml/2006/main">
            <a:pPr>
              <a:defRPr sz="803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803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确认并查看计划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65CB040-201C-417D-83DF-7C101B589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7264" y="6000017"/>
            <a:ext cx="1848583" cy="1147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30456"/>
          </a:bodyPr>
          <a:lstStyle xmlns:a="http://schemas.openxmlformats.org/drawingml/2006/main"/>
          <a:p xmlns:a="http://schemas.openxmlformats.org/drawingml/2006/main">
            <a:pPr>
              <a:defRPr sz="502" b="0">
                <a:solidFill>
                  <a:srgbClr val="66736C"/>
                </a:solidFill>
                <a:latin typeface="PingFang SC"/>
                <a:ea typeface="PingFang SC"/>
                <a:cs typeface="PingFang SC"/>
              </a:defRPr>
            </a:pPr>
            <a:r>
              <a:rPr sz="502" b="0">
                <a:solidFill>
                  <a:srgbClr val="66736C"/>
                </a:solidFill>
                <a:latin typeface="PingFang SC"/>
                <a:ea typeface="PingFang SC"/>
                <a:cs typeface="PingFang SC"/>
              </a:rPr>
              <a:t>办公地点与月租预算将在区域参考前补问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A99B9FC-F46F-40BF-89A1-A3932C6E3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6210300"/>
            <a:ext cx="213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2 补齐信息</a:t>
            </a:r>
          </a:p>
        </p:txBody>
      </p:sp>
      <p:pic>
        <p:nvPicPr>
          <p:cNvPr id="7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27fdd3d66042bc"/>
          <a:stretch xmlns:a="http://schemas.openxmlformats.org/drawingml/2006/main"/>
        </p:blipFill>
        <p:spPr>
          <a:xfrm xmlns:a="http://schemas.openxmlformats.org/drawingml/2006/main">
            <a:off x="6376954" y="2047875"/>
            <a:ext cx="1914593" cy="4143375"/>
          </a:xfrm>
          <a:prstGeom xmlns:a="http://schemas.openxmlformats.org/drawingml/2006/main" prst="roundRect">
            <a:avLst>
              <a:gd name="adj" fmla="val 7143"/>
            </a:avLst>
          </a:prstGeom>
        </p:spPr>
      </p:pic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4067167-9E5D-4C84-A411-157B06EDC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6210300"/>
            <a:ext cx="213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6B4B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6B4B"/>
                </a:solidFill>
                <a:latin typeface="PingFang SC"/>
                <a:ea typeface="PingFang SC"/>
                <a:cs typeface="PingFang SC"/>
              </a:rPr>
              <a:t>3 查看今日任务</a:t>
            </a:r>
          </a:p>
        </p:txBody>
      </p:sp>
      <p:pic>
        <p:nvPicPr>
          <p:cNvPr id="7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8461df243d4563"/>
          <a:stretch xmlns:a="http://schemas.openxmlformats.org/drawingml/2006/main"/>
        </p:blipFill>
        <p:spPr>
          <a:xfrm xmlns:a="http://schemas.openxmlformats.org/drawingml/2006/main">
            <a:off x="9158254" y="2047875"/>
            <a:ext cx="1914593" cy="4143375"/>
          </a:xfrm>
          <a:prstGeom xmlns:a="http://schemas.openxmlformats.org/drawingml/2006/main" prst="roundRect">
            <a:avLst>
              <a:gd name="adj" fmla="val 7143"/>
            </a:avLst>
          </a:prstGeom>
        </p:spPr>
      </p:pic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8DD6890-D45E-4993-84D9-D896D384F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210300"/>
            <a:ext cx="213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4 执行任务</a:t>
            </a:r>
          </a:p>
        </p:txBody>
      </p:sp>
    </p:spTree>
    <p:extLst>
      <p:ext uri="{BB962C8B-B14F-4D97-AF65-F5344CB8AC3E}">
        <p14:creationId xmlns:p14="http://schemas.microsoft.com/office/powerpoint/2010/main" val="53160010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6484D6-9556-4E46-AC5B-86E0BC0F0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62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6B4B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76B4B"/>
                </a:solidFill>
                <a:latin typeface="PingFang SC"/>
                <a:ea typeface="PingFang SC"/>
                <a:cs typeface="PingFang SC"/>
              </a:rPr>
              <a:t>页面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508D22-B472-4822-85E0-9B84AA061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81050"/>
            <a:ext cx="781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首次进入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432BBE-A148-45F9-A512-04DFD2358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66850"/>
            <a:ext cx="476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6736C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66736C"/>
                </a:solidFill>
                <a:latin typeface="PingFang SC"/>
                <a:ea typeface="PingFang SC"/>
                <a:cs typeface="PingFang SC"/>
              </a:rPr>
              <a:t>先解释产品能做什么，再让用户开始填写信息。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36F8CF-D525-45D5-952C-715C15F32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71750"/>
            <a:ext cx="4429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6B4B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76B4B"/>
                </a:solidFill>
                <a:latin typeface="PingFang SC"/>
                <a:ea typeface="PingFang SC"/>
                <a:cs typeface="PingFang SC"/>
              </a:rPr>
              <a:t>用户立即理解产品边界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7DB5AC-1FEE-4529-88E0-C90021FE5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67050"/>
            <a:ext cx="4476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首屏只承诺计划、顺序和提醒，不承诺代办或交易。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5C68B0-D648-4B38-94A8-B8048B5B3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1487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36C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66736C"/>
                </a:solidFill>
                <a:latin typeface="PingFang SC"/>
                <a:ea typeface="PingFang SC"/>
                <a:cs typeface="PingFang SC"/>
              </a:rPr>
              <a:t>PRD 对应能力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926100-3169-4062-B8C9-EB0D90027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00625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F01 信息采集入口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606491ed5e4d22"/>
          <a:stretch xmlns:a="http://schemas.openxmlformats.org/drawingml/2006/main"/>
        </p:blipFill>
        <p:spPr>
          <a:xfrm xmlns:a="http://schemas.openxmlformats.org/drawingml/2006/main">
            <a:off x="7408757" y="361950"/>
            <a:ext cx="2860886" cy="6191250"/>
          </a:xfrm>
          <a:prstGeom xmlns:a="http://schemas.openxmlformats.org/drawingml/2006/main" prst="roundRect">
            <a:avLst>
              <a:gd name="adj" fmla="val 4938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B4D2B0-FC98-4630-B52D-1CF67A134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1912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36C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66736C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83926019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DDE8879-C0DE-4719-B692-9DD7B493F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62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6B4B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76B4B"/>
                </a:solidFill>
                <a:latin typeface="PingFang SC"/>
                <a:ea typeface="PingFang SC"/>
                <a:cs typeface="PingFang SC"/>
              </a:rPr>
              <a:t>页面 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E28C90-174E-4E9A-807C-5ACF01F97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81050"/>
            <a:ext cx="781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信息采集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32EEBF-E2A2-459F-AB36-FCF391E98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66850"/>
            <a:ext cx="476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6736C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66736C"/>
                </a:solidFill>
                <a:latin typeface="PingFang SC"/>
                <a:ea typeface="PingFang SC"/>
                <a:cs typeface="PingFang SC"/>
              </a:rPr>
              <a:t>首次进入集中确认六项搬迁基线，暂不确定可稍后补充。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88A965-4BA4-4343-9F22-C732BCC79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71750"/>
            <a:ext cx="4429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6B4B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76B4B"/>
                </a:solidFill>
                <a:latin typeface="PingFang SC"/>
                <a:ea typeface="PingFang SC"/>
                <a:cs typeface="PingFang SC"/>
              </a:rPr>
              <a:t>先确认目标与约束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F97EBF-8498-4BF7-A1E2-CAC4A4EDE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67050"/>
            <a:ext cx="4476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城市、通勤时间、入职日、全流程期限、一次性搬家预算和合租选择进入初版计划。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777C21-EFE3-4804-8B5C-50CF07A6F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1487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36C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66736C"/>
                </a:solidFill>
                <a:latin typeface="PingFang SC"/>
                <a:ea typeface="PingFang SC"/>
                <a:cs typeface="PingFang SC"/>
              </a:rPr>
              <a:t>PRD 对应能力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4CAD1B-CE1E-439E-8DAC-FBEE067FF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00625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F01 信息采集与画像确认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D2DD54-73BD-4843-AC75-2D4D0F4B8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61950"/>
            <a:ext cx="3086100" cy="6191250"/>
          </a:xfrm>
          <a:prstGeom xmlns:a="http://schemas.openxmlformats.org/drawingml/2006/main" prst="roundRect">
            <a:avLst>
              <a:gd name="adj" fmla="val 24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CE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44FA21-6E08-43AF-89CE-E33FFAE37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61950"/>
            <a:ext cx="3086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8F3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8B550C-6B60-4E0C-9B3D-131EBC88E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3815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9:41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D1BA1B-1BC5-4DF2-A144-761467BB8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38150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◒  100%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FB3D43-C5B2-4180-BFF3-9F4EBE9F0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85800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7143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60C6E3-A2CE-43DC-8A54-00B0BF054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695325"/>
            <a:ext cx="2228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296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先了解你的搬家计划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8CDDDF-A4C4-48B4-809F-F0CC145C9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0953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4B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76B4B"/>
                </a:solidFill>
                <a:latin typeface="PingFang SC"/>
                <a:ea typeface="PingFang SC"/>
                <a:cs typeface="PingFang SC"/>
              </a:rPr>
              <a:t>首次建档 · 六项基线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B96741-7605-4F4E-AB73-AC77DB221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352550"/>
            <a:ext cx="2762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88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先确认这些，计划才排得准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59447B-0632-45FB-BCC9-D1124BF0C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657350"/>
            <a:ext cx="2667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167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36C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6736C"/>
                </a:solidFill>
                <a:latin typeface="PingFang SC"/>
                <a:ea typeface="PingFang SC"/>
                <a:cs typeface="PingFang SC"/>
              </a:rPr>
              <a:t>暂时不确定的选项可以稍后补充。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A345A8-9B52-4470-82FC-84F591D07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971675"/>
            <a:ext cx="2781300" cy="542925"/>
          </a:xfrm>
          <a:prstGeom xmlns:a="http://schemas.openxmlformats.org/drawingml/2006/main" prst="roundRect">
            <a:avLst>
              <a:gd name="adj" fmla="val 140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D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B1FD01-A036-47B4-A853-36DA1D85F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028825"/>
            <a:ext cx="25241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5952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1  新搬入城市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800668-CD19-444B-925C-44D50A789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257425"/>
            <a:ext cx="2524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3846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6736C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36C"/>
                </a:solidFill>
                <a:latin typeface="PingFang SC"/>
                <a:ea typeface="PingFang SC"/>
                <a:cs typeface="PingFang SC"/>
              </a:rPr>
              <a:t>上海市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DF2690-45CD-4BE6-8EE3-05B435B50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581275"/>
            <a:ext cx="2781300" cy="542925"/>
          </a:xfrm>
          <a:prstGeom xmlns:a="http://schemas.openxmlformats.org/drawingml/2006/main" prst="roundRect">
            <a:avLst>
              <a:gd name="adj" fmla="val 140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DF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3122CF-90D3-4F2E-8175-297A0EEF8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638425"/>
            <a:ext cx="25241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5952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2  希望单程通勤多久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EFAD5A-90BC-4271-B3D1-DFB54272C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867025"/>
            <a:ext cx="2524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3846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6736C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36C"/>
                </a:solidFill>
                <a:latin typeface="PingFang SC"/>
                <a:ea typeface="PingFang SC"/>
                <a:cs typeface="PingFang SC"/>
              </a:rPr>
              <a:t>45 分钟以内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A69210-F322-4CDC-8BBA-F0D001CAB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190875"/>
            <a:ext cx="2781300" cy="542925"/>
          </a:xfrm>
          <a:prstGeom xmlns:a="http://schemas.openxmlformats.org/drawingml/2006/main" prst="roundRect">
            <a:avLst>
              <a:gd name="adj" fmla="val 140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DF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DBA620-BB1D-49B7-B71B-35ABA067D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248025"/>
            <a:ext cx="25241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5952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3  入职时间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978846-991A-447C-9335-1C9C30B4E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476625"/>
            <a:ext cx="2524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3846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6736C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36C"/>
                </a:solidFill>
                <a:latin typeface="PingFang SC"/>
                <a:ea typeface="PingFang SC"/>
                <a:cs typeface="PingFang SC"/>
              </a:rPr>
              <a:t>2026 年 10 月 19 日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C4D680-D0C5-44AA-9C73-259B2FF9D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800475"/>
            <a:ext cx="2781300" cy="542925"/>
          </a:xfrm>
          <a:prstGeom xmlns:a="http://schemas.openxmlformats.org/drawingml/2006/main" prst="roundRect">
            <a:avLst>
              <a:gd name="adj" fmla="val 140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DF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A26A8D1-2073-4441-9082-1A290F7A7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857625"/>
            <a:ext cx="25241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5952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4  多久完成搬家全流程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0ACA70B-4926-4D1F-B91C-7D52ACA4D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086225"/>
            <a:ext cx="2524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3846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6736C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36C"/>
                </a:solidFill>
                <a:latin typeface="PingFang SC"/>
                <a:ea typeface="PingFang SC"/>
                <a:cs typeface="PingFang SC"/>
              </a:rPr>
              <a:t>从今天起 4 周内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53995A8-F877-448E-AA6C-51C03C830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410075"/>
            <a:ext cx="2781300" cy="542925"/>
          </a:xfrm>
          <a:prstGeom xmlns:a="http://schemas.openxmlformats.org/drawingml/2006/main" prst="roundRect">
            <a:avLst>
              <a:gd name="adj" fmla="val 140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DF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92D74EB-E881-4D6F-A784-8A22314C4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467225"/>
            <a:ext cx="25241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5952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5  一次性搬家预算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DE5D137-90A2-490D-9426-DD1F882EF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695825"/>
            <a:ext cx="2524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3846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6736C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36C"/>
                </a:solidFill>
                <a:latin typeface="PingFang SC"/>
                <a:ea typeface="PingFang SC"/>
                <a:cs typeface="PingFang SC"/>
              </a:rPr>
              <a:t>¥ 2,000  含搬运与安顿支出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130F963-8E0C-4B71-9CB7-5D9FE52F4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019675"/>
            <a:ext cx="2781300" cy="542925"/>
          </a:xfrm>
          <a:prstGeom xmlns:a="http://schemas.openxmlformats.org/drawingml/2006/main" prst="roundRect">
            <a:avLst>
              <a:gd name="adj" fmla="val 140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DF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977DAC0-DBBC-477C-AB50-5B2A38E0A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5076825"/>
            <a:ext cx="25241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5952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6  是否接受合租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27C198A-E79A-4E24-BB35-A70EE6DA7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5305425"/>
            <a:ext cx="2524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3846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4B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76B4B"/>
                </a:solidFill>
                <a:latin typeface="PingFang SC"/>
                <a:ea typeface="PingFang SC"/>
                <a:cs typeface="PingFang SC"/>
              </a:rPr>
              <a:t>接受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CA8B542-0DC0-4A72-A635-613B970FB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753100"/>
            <a:ext cx="27813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76B4B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6D5C2CA-0781-44B8-9EA3-C4E9CF2C4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85787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确认并查看计划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411FB1D-CBC8-4045-A73F-8535045C9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6267450"/>
            <a:ext cx="276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6736C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66736C"/>
                </a:solidFill>
                <a:latin typeface="PingFang SC"/>
                <a:ea typeface="PingFang SC"/>
                <a:cs typeface="PingFang SC"/>
              </a:rPr>
              <a:t>办公地点与月租预算将在区域参考前补问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D40875D-99AE-42FF-9D40-414009561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1912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36C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66736C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73888658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2AA910-196D-4800-A05C-2480139AA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62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6B4B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76B4B"/>
                </a:solidFill>
                <a:latin typeface="PingFang SC"/>
                <a:ea typeface="PingFang SC"/>
                <a:cs typeface="PingFang SC"/>
              </a:rPr>
              <a:t>页面 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9E3552-08A8-496C-BDEA-0C05B40ED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81050"/>
            <a:ext cx="781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今日计划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2D2F02-35CF-4720-A24C-46DEEB228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66850"/>
            <a:ext cx="476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6736C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66736C"/>
                </a:solidFill>
                <a:latin typeface="PingFang SC"/>
                <a:ea typeface="PingFang SC"/>
                <a:cs typeface="PingFang SC"/>
              </a:rPr>
              <a:t>把近期最值得执行的任务放在首页。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52E285-739D-4125-8575-5C42C06CF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71750"/>
            <a:ext cx="4429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6B4B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76B4B"/>
                </a:solidFill>
                <a:latin typeface="PingFang SC"/>
                <a:ea typeface="PingFang SC"/>
                <a:cs typeface="PingFang SC"/>
              </a:rPr>
              <a:t>近期任务保持在 1–3 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B9288D-BD90-4BC2-A88A-5A8ADF5E3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67050"/>
            <a:ext cx="4476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用户能看到截止日期、优先级、原因与完成进度。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783F11-AAA9-4CA4-BB0E-08CA0272D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1487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36C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66736C"/>
                </a:solidFill>
                <a:latin typeface="PingFang SC"/>
                <a:ea typeface="PingFang SC"/>
                <a:cs typeface="PingFang SC"/>
              </a:rPr>
              <a:t>PRD 对应能力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43771F-A3E2-4B74-8233-86F3A5811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00625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F02 任务生成与 F03 进度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0ff50006344695"/>
          <a:stretch xmlns:a="http://schemas.openxmlformats.org/drawingml/2006/main"/>
        </p:blipFill>
        <p:spPr>
          <a:xfrm xmlns:a="http://schemas.openxmlformats.org/drawingml/2006/main">
            <a:off x="7408757" y="361950"/>
            <a:ext cx="2860886" cy="6191250"/>
          </a:xfrm>
          <a:prstGeom xmlns:a="http://schemas.openxmlformats.org/drawingml/2006/main" prst="roundRect">
            <a:avLst>
              <a:gd name="adj" fmla="val 4938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729850-C5B8-40EB-A43A-310195FA5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1912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36C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66736C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1330293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492A58-49EA-4DA8-AC8A-27FBC3560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62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6B4B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76B4B"/>
                </a:solidFill>
                <a:latin typeface="PingFang SC"/>
                <a:ea typeface="PingFang SC"/>
                <a:cs typeface="PingFang SC"/>
              </a:rPr>
              <a:t>页面 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9B4D4D-0E80-49EA-B834-B6ED70CCF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81050"/>
            <a:ext cx="781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任务详情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D8DDE3-31FD-4C46-8FD1-730920D4C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66850"/>
            <a:ext cx="476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6736C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66736C"/>
                </a:solidFill>
                <a:latin typeface="PingFang SC"/>
                <a:ea typeface="PingFang SC"/>
                <a:cs typeface="PingFang SC"/>
              </a:rPr>
              <a:t>每个任务都说明原因、步骤、依赖和完成标准。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ED1245-D5F9-45C9-83D4-7532A72BC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71750"/>
            <a:ext cx="4429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6B4B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76B4B"/>
                </a:solidFill>
                <a:latin typeface="PingFang SC"/>
                <a:ea typeface="PingFang SC"/>
                <a:cs typeface="PingFang SC"/>
              </a:rPr>
              <a:t>用户知道怎样开始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725EE7-F6AA-4781-9E52-860778FDF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67050"/>
            <a:ext cx="4476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任务卡片连接计划与实际行动，并支持完成和改期。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AE304F-53A6-4308-90AC-A18D49D23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1487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36C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66736C"/>
                </a:solidFill>
                <a:latin typeface="PingFang SC"/>
                <a:ea typeface="PingFang SC"/>
                <a:cs typeface="PingFang SC"/>
              </a:rPr>
              <a:t>PRD 对应能力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AFA0D5-C0AF-4A7A-80A1-6127C29E0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00625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F02 任务卡片与依赖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ab6eca00924d58"/>
          <a:stretch xmlns:a="http://schemas.openxmlformats.org/drawingml/2006/main"/>
        </p:blipFill>
        <p:spPr>
          <a:xfrm xmlns:a="http://schemas.openxmlformats.org/drawingml/2006/main">
            <a:off x="7408757" y="361950"/>
            <a:ext cx="2860886" cy="6191250"/>
          </a:xfrm>
          <a:prstGeom xmlns:a="http://schemas.openxmlformats.org/drawingml/2006/main" prst="roundRect">
            <a:avLst>
              <a:gd name="adj" fmla="val 4938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AA3A0C-CD72-41AA-81C5-DCC0B70E7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1912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36C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66736C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32709219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AB52E9-4C94-4AB3-AB0C-C3B412745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62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6B4B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76B4B"/>
                </a:solidFill>
                <a:latin typeface="PingFang SC"/>
                <a:ea typeface="PingFang SC"/>
                <a:cs typeface="PingFang SC"/>
              </a:rPr>
              <a:t>页面 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046EB2-BA4C-4DC6-8F30-A70C81765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81050"/>
            <a:ext cx="781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区域生活参考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6E20FF-E925-4E87-AA0F-381459901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66850"/>
            <a:ext cx="476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6736C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66736C"/>
                </a:solidFill>
                <a:latin typeface="PingFang SC"/>
                <a:ea typeface="PingFang SC"/>
                <a:cs typeface="PingFang SC"/>
              </a:rPr>
              <a:t>按通勤与预算给出区域级参考，并说明周边生活条件。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FF70DF-28AF-4B7C-AFA9-C0159F6A9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71750"/>
            <a:ext cx="4429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6B4B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76B4B"/>
                </a:solidFill>
                <a:latin typeface="PingFang SC"/>
                <a:ea typeface="PingFang SC"/>
                <a:cs typeface="PingFang SC"/>
              </a:rPr>
              <a:t>只展示区域，不展示房源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D6014F-501B-4355-B10B-F9AC2037E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67050"/>
            <a:ext cx="4476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页面明确数据口径和匹配状态，用户仍需自行寻找具体房源。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373FC9-2408-462E-A11E-6BFCDAEF7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1487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36C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66736C"/>
                </a:solidFill>
                <a:latin typeface="PingFang SC"/>
                <a:ea typeface="PingFang SC"/>
                <a:cs typeface="PingFang SC"/>
              </a:rPr>
              <a:t>PRD 对应能力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FC856F-D078-4ED6-9B98-EFCC838B8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00625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F04 租房准备与区域参考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5532eb2624425f"/>
          <a:stretch xmlns:a="http://schemas.openxmlformats.org/drawingml/2006/main"/>
        </p:blipFill>
        <p:spPr>
          <a:xfrm xmlns:a="http://schemas.openxmlformats.org/drawingml/2006/main">
            <a:off x="7408757" y="361950"/>
            <a:ext cx="2860886" cy="6191250"/>
          </a:xfrm>
          <a:prstGeom xmlns:a="http://schemas.openxmlformats.org/drawingml/2006/main" prst="roundRect">
            <a:avLst>
              <a:gd name="adj" fmla="val 4938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7AA2BB-DDB2-445D-92CF-AE1FB11F9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1912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36C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66736C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050240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66ACDD-5D7D-4E5A-A9F7-763E29151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62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6B4B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76B4B"/>
                </a:solidFill>
                <a:latin typeface="PingFang SC"/>
                <a:ea typeface="PingFang SC"/>
                <a:cs typeface="PingFang SC"/>
              </a:rPr>
              <a:t>页面 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D80DB2-1249-4E4B-BEFE-43B2D5991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81050"/>
            <a:ext cx="781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水电网费估算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A045B7-7F8E-4CD2-88AF-940715FB6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66850"/>
            <a:ext cx="476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6736C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66736C"/>
                </a:solidFill>
                <a:latin typeface="PingFang SC"/>
                <a:ea typeface="PingFang SC"/>
                <a:cs typeface="PingFang SC"/>
              </a:rPr>
              <a:t>以区间呈现水、电、燃气和宽带的月度预算。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D13986-458A-4370-AB44-5B16DA5D9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71750"/>
            <a:ext cx="4429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6B4B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76B4B"/>
                </a:solidFill>
                <a:latin typeface="PingFang SC"/>
                <a:ea typeface="PingFang SC"/>
                <a:cs typeface="PingFang SC"/>
              </a:rPr>
              <a:t>估算条件可以调整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762EF9-5C69-46A0-9FA0-178186E92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67050"/>
            <a:ext cx="4476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系统展示假设与不确定性，避免把估算当成账单价格。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12E857-8B52-4AF3-8390-BA953FCD9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1487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36C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66736C"/>
                </a:solidFill>
                <a:latin typeface="PingFang SC"/>
                <a:ea typeface="PingFang SC"/>
                <a:cs typeface="PingFang SC"/>
              </a:rPr>
              <a:t>PRD 对应能力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684158-CDDD-43E3-A947-69F3CD7F9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00625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F04 水电网费预估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82b641f0c94a63"/>
          <a:stretch xmlns:a="http://schemas.openxmlformats.org/drawingml/2006/main"/>
        </p:blipFill>
        <p:spPr>
          <a:xfrm xmlns:a="http://schemas.openxmlformats.org/drawingml/2006/main">
            <a:off x="7408757" y="361950"/>
            <a:ext cx="2860886" cy="6191250"/>
          </a:xfrm>
          <a:prstGeom xmlns:a="http://schemas.openxmlformats.org/drawingml/2006/main" prst="roundRect">
            <a:avLst>
              <a:gd name="adj" fmla="val 4938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64E238-D089-4100-B582-AF9C89985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1912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36C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66736C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34149496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83BC9F-4C10-48A3-A0D2-6B22B4D6A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62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6B4B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76B4B"/>
                </a:solidFill>
                <a:latin typeface="PingFang SC"/>
                <a:ea typeface="PingFang SC"/>
                <a:cs typeface="PingFang SC"/>
              </a:rPr>
              <a:t>页面 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7823DA-04A2-4B17-B648-3D05ED5DE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81050"/>
            <a:ext cx="781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计划日历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575726-A77A-42B4-A5EE-66C6E5EB3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66850"/>
            <a:ext cx="476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6736C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66736C"/>
                </a:solidFill>
                <a:latin typeface="PingFang SC"/>
                <a:ea typeface="PingFang SC"/>
                <a:cs typeface="PingFang SC"/>
              </a:rPr>
              <a:t>用户按日期查看租房、搬家和办理事项。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3DF35C-1937-4347-9769-20699944F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71750"/>
            <a:ext cx="4429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6B4B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76B4B"/>
                </a:solidFill>
                <a:latin typeface="PingFang SC"/>
                <a:ea typeface="PingFang SC"/>
                <a:cs typeface="PingFang SC"/>
              </a:rPr>
              <a:t>关键节点集中呈现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DED8D5-533D-4A5E-B435-580434BD1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67050"/>
            <a:ext cx="4476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日历与任务列表互相联动，改期后同步刷新。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EA86A8-4E82-42AC-8871-BD482FF7E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1487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36C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66736C"/>
                </a:solidFill>
                <a:latin typeface="PingFang SC"/>
                <a:ea typeface="PingFang SC"/>
                <a:cs typeface="PingFang SC"/>
              </a:rPr>
              <a:t>PRD 对应能力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AAB588-5CC8-419D-90B6-DF41BD084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00625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F06 日程展示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507dcb990344aa"/>
          <a:stretch xmlns:a="http://schemas.openxmlformats.org/drawingml/2006/main"/>
        </p:blipFill>
        <p:spPr>
          <a:xfrm xmlns:a="http://schemas.openxmlformats.org/drawingml/2006/main">
            <a:off x="7408757" y="361950"/>
            <a:ext cx="2860886" cy="6191250"/>
          </a:xfrm>
          <a:prstGeom xmlns:a="http://schemas.openxmlformats.org/drawingml/2006/main" prst="roundRect">
            <a:avLst>
              <a:gd name="adj" fmla="val 4938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BCFFD7-E8D0-4411-96B9-4F2C3F80B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1912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36C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66736C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49566197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8E9607-BD09-418D-B9EA-4755E1F31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62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6B4B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76B4B"/>
                </a:solidFill>
                <a:latin typeface="PingFang SC"/>
                <a:ea typeface="PingFang SC"/>
                <a:cs typeface="PingFang SC"/>
              </a:rPr>
              <a:t>页面 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CC15B9-96D1-4BDB-8B7A-FEDC6882B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81050"/>
            <a:ext cx="781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提醒设置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160AD8-767B-47E6-BB52-63614720C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66850"/>
            <a:ext cx="476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6736C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66736C"/>
                </a:solidFill>
                <a:latin typeface="PingFang SC"/>
                <a:ea typeface="PingFang SC"/>
                <a:cs typeface="PingFang SC"/>
              </a:rPr>
              <a:t>清楚区分站内提醒与微信订阅提醒。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FD3AEF-8F91-4805-AB6C-27B956727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71750"/>
            <a:ext cx="4429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6B4B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76B4B"/>
                </a:solidFill>
                <a:latin typeface="PingFang SC"/>
                <a:ea typeface="PingFang SC"/>
                <a:cs typeface="PingFang SC"/>
              </a:rPr>
              <a:t>发送状态可以解释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B0A514-A08E-4803-A88C-B59EF7B04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67050"/>
            <a:ext cx="4476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页面展示是否授权、是否设置成功以及仅站内等状态。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89928C-B7A8-444E-9A29-88628C054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1487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36C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66736C"/>
                </a:solidFill>
                <a:latin typeface="PingFang SC"/>
                <a:ea typeface="PingFang SC"/>
                <a:cs typeface="PingFang SC"/>
              </a:rPr>
              <a:t>PRD 对应能力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7C89A9-A72D-43AD-A8DE-1467E79C3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00625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F06 提醒设置与状态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c36d262ed94f9f"/>
          <a:stretch xmlns:a="http://schemas.openxmlformats.org/drawingml/2006/main"/>
        </p:blipFill>
        <p:spPr>
          <a:xfrm xmlns:a="http://schemas.openxmlformats.org/drawingml/2006/main">
            <a:off x="7408757" y="361950"/>
            <a:ext cx="2860886" cy="6191250"/>
          </a:xfrm>
          <a:prstGeom xmlns:a="http://schemas.openxmlformats.org/drawingml/2006/main" prst="roundRect">
            <a:avLst>
              <a:gd name="adj" fmla="val 4938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00F740-7F8D-4F24-B278-FEF7D21C5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1912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36C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66736C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8514937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7C8D70-C7CC-4A66-A0AD-14813FC92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62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6B4B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76B4B"/>
                </a:solidFill>
                <a:latin typeface="PingFang SC"/>
                <a:ea typeface="PingFang SC"/>
                <a:cs typeface="PingFang SC"/>
              </a:rPr>
              <a:t>页面 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D52A3C-628C-4006-A552-9BF7245B5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81050"/>
            <a:ext cx="781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计划调整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A7DE13-7314-4F30-8F5F-DE673B790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66850"/>
            <a:ext cx="476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6736C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66736C"/>
                </a:solidFill>
                <a:latin typeface="PingFang SC"/>
                <a:ea typeface="PingFang SC"/>
                <a:cs typeface="PingFang SC"/>
              </a:rPr>
              <a:t>入职或搬家日期变化后，先预览影响再确认更新。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1535DD-8430-4165-883B-A795888A6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71750"/>
            <a:ext cx="4429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6B4B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76B4B"/>
                </a:solidFill>
                <a:latin typeface="PingFang SC"/>
                <a:ea typeface="PingFang SC"/>
                <a:cs typeface="PingFang SC"/>
              </a:rPr>
              <a:t>已完成记录保持不变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E75181-2599-4A0A-99A4-6B7F89466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67050"/>
            <a:ext cx="4476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系统显示被调整的任务、日期变化和潜在冲突。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FDD1A7-AFE4-4B03-AD79-AE20BF96E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1487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36C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66736C"/>
                </a:solidFill>
                <a:latin typeface="PingFang SC"/>
                <a:ea typeface="PingFang SC"/>
                <a:cs typeface="PingFang SC"/>
              </a:rPr>
              <a:t>PRD 对应能力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8B568C-9ACE-4F07-8923-E2D5673DF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00625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F07 动态调整与计划版本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0418047a704145"/>
          <a:stretch xmlns:a="http://schemas.openxmlformats.org/drawingml/2006/main"/>
        </p:blipFill>
        <p:spPr>
          <a:xfrm xmlns:a="http://schemas.openxmlformats.org/drawingml/2006/main">
            <a:off x="7408757" y="361950"/>
            <a:ext cx="2860886" cy="6191250"/>
          </a:xfrm>
          <a:prstGeom xmlns:a="http://schemas.openxmlformats.org/drawingml/2006/main" prst="roundRect">
            <a:avLst>
              <a:gd name="adj" fmla="val 4938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8CB7F8-1DC4-4511-9870-8A679291D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1912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36C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66736C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84388435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E009B0-E321-4805-9F23-435E45C0B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62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6B4B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76B4B"/>
                </a:solidFill>
                <a:latin typeface="PingFang SC"/>
                <a:ea typeface="PingFang SC"/>
                <a:cs typeface="PingFang SC"/>
              </a:rPr>
              <a:t>页面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90A906-6127-40F3-A9B2-30FFB32E7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81050"/>
            <a:ext cx="781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对话与计划联动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C823B7-03AB-41D6-9049-2963C9BBF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66850"/>
            <a:ext cx="476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6736C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66736C"/>
                </a:solidFill>
                <a:latin typeface="PingFang SC"/>
                <a:ea typeface="PingFang SC"/>
                <a:cs typeface="PingFang SC"/>
              </a:rPr>
              <a:t>用户通过追问补充特殊条件，确认后再写入计划。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0B2774-4F5D-4216-A5AD-661004971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71750"/>
            <a:ext cx="4429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6B4B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76B4B"/>
                </a:solidFill>
                <a:latin typeface="PingFang SC"/>
                <a:ea typeface="PingFang SC"/>
                <a:cs typeface="PingFang SC"/>
              </a:rPr>
              <a:t>对话结果可以执行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3747FA-62AB-4995-9893-1009B22C7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67050"/>
            <a:ext cx="4476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示例中，养宠物需求转成租房检查项和周边设施条件。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8ED37A-E111-4277-884A-CC81B1FDC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1487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36C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66736C"/>
                </a:solidFill>
                <a:latin typeface="PingFang SC"/>
                <a:ea typeface="PingFang SC"/>
                <a:cs typeface="PingFang SC"/>
              </a:rPr>
              <a:t>PRD 对应能力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D0BA10-136A-424F-8656-B673113B4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00625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F08 对话、解释与反馈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1888d16c32453c"/>
          <a:stretch xmlns:a="http://schemas.openxmlformats.org/drawingml/2006/main"/>
        </p:blipFill>
        <p:spPr>
          <a:xfrm xmlns:a="http://schemas.openxmlformats.org/drawingml/2006/main">
            <a:off x="7408757" y="361950"/>
            <a:ext cx="2860886" cy="6191250"/>
          </a:xfrm>
          <a:prstGeom xmlns:a="http://schemas.openxmlformats.org/drawingml/2006/main" prst="roundRect">
            <a:avLst>
              <a:gd name="adj" fmla="val 4938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6A6F8F-07FD-4AF4-B91E-DE776A69F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1912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36C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66736C"/>
                </a:solidFill>
                <a:latin typeface="PingFang SC"/>
                <a:ea typeface="PingFang SC"/>
                <a:cs typeface="PingFang SC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73817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2026-09-22T20:48:24.5650000Z</dcterms:created>
  <dcterms:modified xsi:type="dcterms:W3CDTF">2026-09-22T20:48:24.5650000Z</dcterms:modified>
</coreProperties>
</file>